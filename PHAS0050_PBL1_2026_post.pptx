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17"/>
  </p:notesMasterIdLst>
  <p:handoutMasterIdLst>
    <p:handoutMasterId r:id="rId18"/>
  </p:handoutMasterIdLst>
  <p:sldIdLst>
    <p:sldId id="479" r:id="rId2"/>
    <p:sldId id="478" r:id="rId3"/>
    <p:sldId id="387" r:id="rId4"/>
    <p:sldId id="377" r:id="rId5"/>
    <p:sldId id="378" r:id="rId6"/>
    <p:sldId id="379" r:id="rId7"/>
    <p:sldId id="380" r:id="rId8"/>
    <p:sldId id="364" r:id="rId9"/>
    <p:sldId id="288" r:id="rId10"/>
    <p:sldId id="477" r:id="rId11"/>
    <p:sldId id="476" r:id="rId12"/>
    <p:sldId id="474" r:id="rId13"/>
    <p:sldId id="471" r:id="rId14"/>
    <p:sldId id="472" r:id="rId15"/>
    <p:sldId id="473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8A8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74"/>
    <p:restoredTop sz="94783"/>
  </p:normalViewPr>
  <p:slideViewPr>
    <p:cSldViewPr>
      <p:cViewPr varScale="1">
        <p:scale>
          <a:sx n="113" d="100"/>
          <a:sy n="113" d="100"/>
        </p:scale>
        <p:origin x="244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F701F0BE-4CDC-BB42-A1BB-106DA9B84CF8}" type="datetime1">
              <a:rPr lang="en-US"/>
              <a:pPr>
                <a:defRPr/>
              </a:pPr>
              <a:t>1/16/26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F8EA90A3-7E31-E34A-853D-0677C73DBB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8061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146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0"/>
            <a:r>
              <a:rPr lang="en-GB" noProof="0"/>
              <a:t>Second level</a:t>
            </a:r>
          </a:p>
          <a:p>
            <a:pPr lvl="0"/>
            <a:r>
              <a:rPr lang="en-GB" noProof="0"/>
              <a:t>Third level</a:t>
            </a:r>
          </a:p>
          <a:p>
            <a:pPr lvl="0"/>
            <a:r>
              <a:rPr lang="en-GB" noProof="0"/>
              <a:t>Fourth level</a:t>
            </a:r>
          </a:p>
          <a:p>
            <a:pPr lvl="0"/>
            <a:r>
              <a:rPr lang="en-GB" noProof="0"/>
              <a:t>Fifth level</a:t>
            </a:r>
          </a:p>
        </p:txBody>
      </p:sp>
      <p:sp>
        <p:nvSpPr>
          <p:cNvPr id="1146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46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0A389CEA-3886-554B-AC3F-E11AEE6339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00841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charset="0"/>
        <a:cs typeface="ＭＳ Ｐゴシック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66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 txBox="1">
            <a:spLocks/>
          </p:cNvSpPr>
          <p:nvPr userDrawn="1"/>
        </p:nvSpPr>
        <p:spPr>
          <a:xfrm>
            <a:off x="457200" y="6470650"/>
            <a:ext cx="2133600" cy="476250"/>
          </a:xfrm>
          <a:prstGeom prst="rect">
            <a:avLst/>
          </a:prstGeom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sz="1400" b="0" dirty="0"/>
              <a:t>2026</a:t>
            </a:r>
          </a:p>
        </p:txBody>
      </p:sp>
      <p:sp>
        <p:nvSpPr>
          <p:cNvPr id="5" name="Footer Placeholder 2"/>
          <p:cNvSpPr txBox="1">
            <a:spLocks/>
          </p:cNvSpPr>
          <p:nvPr userDrawn="1"/>
        </p:nvSpPr>
        <p:spPr bwMode="auto">
          <a:xfrm>
            <a:off x="1908175" y="6470650"/>
            <a:ext cx="55435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400" b="0" dirty="0"/>
              <a:t>PHAS0050 : Problem Based Learning Session 1</a:t>
            </a:r>
            <a:endParaRPr lang="en-GB" sz="1400" b="0" dirty="0"/>
          </a:p>
        </p:txBody>
      </p:sp>
      <p:sp>
        <p:nvSpPr>
          <p:cNvPr id="6" name="Slide Number Placeholder 3"/>
          <p:cNvSpPr txBox="1">
            <a:spLocks/>
          </p:cNvSpPr>
          <p:nvPr userDrawn="1"/>
        </p:nvSpPr>
        <p:spPr bwMode="auto">
          <a:xfrm>
            <a:off x="6553200" y="64706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fld id="{6DA33A76-D939-0045-8E2B-59B15A27A4F1}" type="slidenum">
              <a:rPr lang="en-GB" sz="1400" b="0" smtClean="0"/>
              <a:pPr algn="r" eaLnBrk="1" hangingPunct="1">
                <a:defRPr/>
              </a:pPr>
              <a:t>‹#›</a:t>
            </a:fld>
            <a:endParaRPr lang="en-GB" sz="1400" b="0"/>
          </a:p>
        </p:txBody>
      </p:sp>
      <p:sp>
        <p:nvSpPr>
          <p:cNvPr id="7" name="Line 7"/>
          <p:cNvSpPr>
            <a:spLocks noChangeShapeType="1"/>
          </p:cNvSpPr>
          <p:nvPr userDrawn="1"/>
        </p:nvSpPr>
        <p:spPr bwMode="auto">
          <a:xfrm>
            <a:off x="-6350" y="609600"/>
            <a:ext cx="915035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-6350" y="6457950"/>
            <a:ext cx="915035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06"/>
            <a:ext cx="8229600" cy="563562"/>
          </a:xfrm>
        </p:spPr>
        <p:txBody>
          <a:bodyPr/>
          <a:lstStyle>
            <a:lvl1pPr>
              <a:defRPr sz="2800">
                <a:latin typeface="Arial"/>
                <a:cs typeface="Aria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>
            <a:lvl1pPr>
              <a:defRPr sz="1800">
                <a:latin typeface="Arial"/>
                <a:cs typeface="Arial"/>
              </a:defRPr>
            </a:lvl1pPr>
            <a:lvl2pPr>
              <a:defRPr sz="18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442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12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charset="0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charset="0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5.emf"/><Relationship Id="rId7" Type="http://schemas.openxmlformats.org/officeDocument/2006/relationships/image" Target="../media/image7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6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oleObject" Target="../embeddings/oleObject9.bin"/><Relationship Id="rId7" Type="http://schemas.openxmlformats.org/officeDocument/2006/relationships/image" Target="../media/image1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8.emf"/><Relationship Id="rId4" Type="http://schemas.openxmlformats.org/officeDocument/2006/relationships/image" Target="../media/image10.emf"/><Relationship Id="rId9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.emf"/><Relationship Id="rId7" Type="http://schemas.openxmlformats.org/officeDocument/2006/relationships/image" Target="../media/image7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8.emf"/><Relationship Id="rId4" Type="http://schemas.openxmlformats.org/officeDocument/2006/relationships/oleObject" Target="../embeddings/oleObject8.bin"/><Relationship Id="rId9" Type="http://schemas.openxmlformats.org/officeDocument/2006/relationships/oleObject" Target="../embeddings/oleObject1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emf"/><Relationship Id="rId7" Type="http://schemas.openxmlformats.org/officeDocument/2006/relationships/image" Target="../media/image19.png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1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2503C-90EB-01A4-47DD-BF0BD4ACC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PBL 1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5C942-5A2E-A68A-4FBD-F8E3B5498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2378968"/>
          </a:xfrm>
        </p:spPr>
        <p:txBody>
          <a:bodyPr/>
          <a:lstStyle/>
          <a:p>
            <a:r>
              <a:rPr lang="en-US" sz="2400" dirty="0"/>
              <a:t>Short intro to topic 2 Energy Generation and science (which we will cover in the second lecture on weds)</a:t>
            </a:r>
          </a:p>
          <a:p>
            <a:r>
              <a:rPr lang="en-US" sz="2400" dirty="0"/>
              <a:t>Revision on thermodynamics (Carnot cycle)</a:t>
            </a:r>
          </a:p>
          <a:p>
            <a:r>
              <a:rPr lang="en-US" sz="2400" dirty="0"/>
              <a:t>A note on units</a:t>
            </a:r>
          </a:p>
          <a:p>
            <a:r>
              <a:rPr lang="en-US" sz="2400" dirty="0"/>
              <a:t>PBL questions on heat pumps (from 2021 Exam paper)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2817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le 1"/>
          <p:cNvSpPr>
            <a:spLocks noGrp="1"/>
          </p:cNvSpPr>
          <p:nvPr>
            <p:ph type="title"/>
          </p:nvPr>
        </p:nvSpPr>
        <p:spPr>
          <a:xfrm>
            <a:off x="450850" y="44450"/>
            <a:ext cx="8229600" cy="563563"/>
          </a:xfrm>
        </p:spPr>
        <p:txBody>
          <a:bodyPr/>
          <a:lstStyle/>
          <a:p>
            <a:pPr eaLnBrk="1" hangingPunct="1"/>
            <a:r>
              <a:rPr lang="en-US" b="1">
                <a:latin typeface="Arial" charset="0"/>
                <a:ea typeface="ＭＳ Ｐゴシック" charset="0"/>
                <a:cs typeface="Arial" charset="0"/>
              </a:rPr>
              <a:t>Energy Science &amp; Generation</a:t>
            </a:r>
          </a:p>
        </p:txBody>
      </p:sp>
      <p:sp>
        <p:nvSpPr>
          <p:cNvPr id="5122" name="TextBox 3"/>
          <p:cNvSpPr txBox="1">
            <a:spLocks noChangeArrowheads="1"/>
          </p:cNvSpPr>
          <p:nvPr/>
        </p:nvSpPr>
        <p:spPr bwMode="auto">
          <a:xfrm>
            <a:off x="971550" y="2276475"/>
            <a:ext cx="7467600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Aft>
                <a:spcPts val="600"/>
              </a:spcAft>
              <a:buFont typeface="Arial" charset="0"/>
              <a:buAutoNum type="arabicPeriod"/>
            </a:pPr>
            <a:r>
              <a:rPr lang="en-US" sz="2000" b="0" dirty="0"/>
              <a:t>Units</a:t>
            </a:r>
          </a:p>
          <a:p>
            <a:pPr eaLnBrk="1" hangingPunct="1">
              <a:spcAft>
                <a:spcPts val="600"/>
              </a:spcAft>
              <a:buFont typeface="Arial" charset="0"/>
              <a:buAutoNum type="arabicPeriod"/>
            </a:pPr>
            <a:r>
              <a:rPr lang="en-US" sz="2000" b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Energy Consumption</a:t>
            </a:r>
          </a:p>
          <a:p>
            <a:pPr eaLnBrk="1" hangingPunct="1">
              <a:spcAft>
                <a:spcPts val="600"/>
              </a:spcAft>
              <a:buFont typeface="Arial" charset="0"/>
              <a:buAutoNum type="arabicPeriod"/>
            </a:pPr>
            <a:r>
              <a:rPr lang="en-US" sz="2000" b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Examples of Fossil Fuel Combustion</a:t>
            </a:r>
          </a:p>
          <a:p>
            <a:pPr eaLnBrk="1" hangingPunct="1">
              <a:spcAft>
                <a:spcPts val="600"/>
              </a:spcAft>
              <a:buFont typeface="Arial" charset="0"/>
              <a:buAutoNum type="arabicPeriod"/>
            </a:pPr>
            <a:r>
              <a:rPr lang="en-US" sz="2000" b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Basic Heat &amp; Thermodynamics</a:t>
            </a:r>
          </a:p>
          <a:p>
            <a:pPr eaLnBrk="1" hangingPunct="1">
              <a:spcAft>
                <a:spcPts val="600"/>
              </a:spcAft>
              <a:buFont typeface="Arial" charset="0"/>
              <a:buAutoNum type="arabicPeriod"/>
            </a:pPr>
            <a:r>
              <a:rPr lang="en-US" sz="2000" b="0" dirty="0"/>
              <a:t>The Carnot Cycle</a:t>
            </a:r>
          </a:p>
          <a:p>
            <a:pPr eaLnBrk="1" hangingPunct="1">
              <a:spcAft>
                <a:spcPts val="600"/>
              </a:spcAft>
              <a:buFont typeface="Arial" charset="0"/>
              <a:buAutoNum type="arabicPeriod"/>
            </a:pPr>
            <a:r>
              <a:rPr lang="en-US" sz="2000" b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The Rankine Cycle</a:t>
            </a:r>
          </a:p>
          <a:p>
            <a:pPr eaLnBrk="1" hangingPunct="1">
              <a:spcAft>
                <a:spcPts val="600"/>
              </a:spcAft>
              <a:buFont typeface="Arial" charset="0"/>
              <a:buAutoNum type="arabicPeriod"/>
            </a:pPr>
            <a:r>
              <a:rPr lang="en-US" sz="2000" b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The Brayton (Joule) Cycle</a:t>
            </a:r>
          </a:p>
          <a:p>
            <a:pPr eaLnBrk="1" hangingPunct="1">
              <a:spcAft>
                <a:spcPts val="600"/>
              </a:spcAft>
              <a:buFont typeface="Arial" charset="0"/>
              <a:buAutoNum type="arabicPeriod"/>
            </a:pPr>
            <a:r>
              <a:rPr lang="en-US" sz="2000" b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Combined Cycle Gas Turbine (CCGT)</a:t>
            </a:r>
          </a:p>
          <a:p>
            <a:pPr eaLnBrk="1" hangingPunct="1">
              <a:spcAft>
                <a:spcPts val="600"/>
              </a:spcAft>
              <a:buFont typeface="Arial" charset="0"/>
              <a:buAutoNum type="arabicPeriod"/>
            </a:pPr>
            <a:r>
              <a:rPr lang="en-US" sz="2000" b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Conclusions</a:t>
            </a:r>
          </a:p>
        </p:txBody>
      </p:sp>
      <p:sp>
        <p:nvSpPr>
          <p:cNvPr id="5123" name="TextBox 4"/>
          <p:cNvSpPr txBox="1">
            <a:spLocks noChangeArrowheads="1"/>
          </p:cNvSpPr>
          <p:nvPr/>
        </p:nvSpPr>
        <p:spPr bwMode="auto">
          <a:xfrm>
            <a:off x="1403350" y="1230313"/>
            <a:ext cx="6324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Aft>
                <a:spcPts val="600"/>
              </a:spcAft>
            </a:pPr>
            <a:r>
              <a:rPr lang="en-US" sz="2000" dirty="0">
                <a:solidFill>
                  <a:srgbClr val="0000FF"/>
                </a:solidFill>
              </a:rPr>
              <a:t>Prof. Cham </a:t>
            </a:r>
            <a:r>
              <a:rPr lang="en-US" sz="2000" dirty="0" err="1">
                <a:solidFill>
                  <a:srgbClr val="0000FF"/>
                </a:solidFill>
              </a:rPr>
              <a:t>Ghag</a:t>
            </a:r>
            <a:r>
              <a:rPr lang="en-US" sz="2000" dirty="0">
                <a:solidFill>
                  <a:srgbClr val="0000FF"/>
                </a:solidFill>
              </a:rPr>
              <a:t> &amp; Prof. Chris Howard</a:t>
            </a:r>
          </a:p>
        </p:txBody>
      </p:sp>
      <p:sp>
        <p:nvSpPr>
          <p:cNvPr id="5124" name="Title 1"/>
          <p:cNvSpPr>
            <a:spLocks/>
          </p:cNvSpPr>
          <p:nvPr/>
        </p:nvSpPr>
        <p:spPr bwMode="auto">
          <a:xfrm>
            <a:off x="450850" y="711200"/>
            <a:ext cx="82296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tx2"/>
                </a:solidFill>
                <a:cs typeface="Arial" charset="0"/>
              </a:rPr>
              <a:t>PHAS0050 : Climate &amp; Energy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title"/>
          </p:nvPr>
        </p:nvSpPr>
        <p:spPr>
          <a:xfrm>
            <a:off x="457200" y="30163"/>
            <a:ext cx="8229600" cy="563562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Basic Heat &amp; Thermodynamics </a:t>
            </a:r>
            <a:r>
              <a:rPr lang="en-US" dirty="0"/>
              <a:t>(Revision </a:t>
            </a:r>
            <a:r>
              <a:rPr lang="en-US" dirty="0">
                <a:latin typeface="Times"/>
                <a:cs typeface="Times"/>
              </a:rPr>
              <a:t>I</a:t>
            </a:r>
            <a:r>
              <a:rPr lang="en-US" dirty="0"/>
              <a:t>)</a:t>
            </a:r>
            <a:endParaRPr lang="en-US" dirty="0"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4338" name="TextBox 3"/>
          <p:cNvSpPr txBox="1">
            <a:spLocks noChangeArrowheads="1"/>
          </p:cNvSpPr>
          <p:nvPr/>
        </p:nvSpPr>
        <p:spPr bwMode="auto">
          <a:xfrm>
            <a:off x="179388" y="5048250"/>
            <a:ext cx="32623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6213" indent="-176213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1800" b="0"/>
              <a:t>For </a:t>
            </a:r>
            <a:r>
              <a:rPr lang="en-US" sz="1800" b="0" i="1"/>
              <a:t>n</a:t>
            </a:r>
            <a:r>
              <a:rPr lang="en-US" sz="1800" b="0"/>
              <a:t> moles of an ideal gas :</a:t>
            </a:r>
          </a:p>
        </p:txBody>
      </p:sp>
      <p:graphicFrame>
        <p:nvGraphicFramePr>
          <p:cNvPr id="14339" name="Object 4"/>
          <p:cNvGraphicFramePr>
            <a:graphicFrameLocks noChangeAspect="1"/>
          </p:cNvGraphicFramePr>
          <p:nvPr/>
        </p:nvGraphicFramePr>
        <p:xfrm>
          <a:off x="2481263" y="5553075"/>
          <a:ext cx="423068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03500" imgH="228600" progId="Equation.3">
                  <p:embed/>
                </p:oleObj>
              </mc:Choice>
              <mc:Fallback>
                <p:oleObj name="Equation" r:id="rId2" imgW="2603500" imgH="228600" progId="Equation.3">
                  <p:embed/>
                  <p:pic>
                    <p:nvPicPr>
                      <p:cNvPr id="1433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1263" y="5553075"/>
                        <a:ext cx="4230687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292350" y="5521325"/>
            <a:ext cx="4608513" cy="4635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341" name="TextBox 6"/>
          <p:cNvSpPr txBox="1">
            <a:spLocks noChangeArrowheads="1"/>
          </p:cNvSpPr>
          <p:nvPr/>
        </p:nvSpPr>
        <p:spPr bwMode="auto">
          <a:xfrm>
            <a:off x="179388" y="1052513"/>
            <a:ext cx="6378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6213" indent="-176213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1800" b="0"/>
              <a:t>The heat required to raise the temperature of a substance :</a:t>
            </a:r>
          </a:p>
        </p:txBody>
      </p:sp>
      <p:graphicFrame>
        <p:nvGraphicFramePr>
          <p:cNvPr id="14342" name="Object 7"/>
          <p:cNvGraphicFramePr>
            <a:graphicFrameLocks noChangeAspect="1"/>
          </p:cNvGraphicFramePr>
          <p:nvPr/>
        </p:nvGraphicFramePr>
        <p:xfrm>
          <a:off x="3027363" y="1608138"/>
          <a:ext cx="313690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30400" imgH="203200" progId="Equation.3">
                  <p:embed/>
                </p:oleObj>
              </mc:Choice>
              <mc:Fallback>
                <p:oleObj name="Equation" r:id="rId4" imgW="1930400" imgH="203200" progId="Equation.3">
                  <p:embed/>
                  <p:pic>
                    <p:nvPicPr>
                      <p:cNvPr id="1434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7363" y="1608138"/>
                        <a:ext cx="3136900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940050" y="1544638"/>
            <a:ext cx="3311525" cy="4635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344" name="TextBox 9"/>
          <p:cNvSpPr txBox="1">
            <a:spLocks noChangeArrowheads="1"/>
          </p:cNvSpPr>
          <p:nvPr/>
        </p:nvSpPr>
        <p:spPr bwMode="auto">
          <a:xfrm>
            <a:off x="179388" y="2266950"/>
            <a:ext cx="85693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6213" indent="-176213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1800" b="0"/>
              <a:t>Note the difference between specific &amp; molar heat capacity at constant volume and pressure :</a:t>
            </a:r>
          </a:p>
        </p:txBody>
      </p:sp>
      <p:graphicFrame>
        <p:nvGraphicFramePr>
          <p:cNvPr id="14345" name="Object 10"/>
          <p:cNvGraphicFramePr>
            <a:graphicFrameLocks noChangeAspect="1"/>
          </p:cNvGraphicFramePr>
          <p:nvPr/>
        </p:nvGraphicFramePr>
        <p:xfrm>
          <a:off x="3863975" y="2824163"/>
          <a:ext cx="1465263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01700" imgH="228600" progId="Equation.3">
                  <p:embed/>
                </p:oleObj>
              </mc:Choice>
              <mc:Fallback>
                <p:oleObj name="Equation" r:id="rId6" imgW="901700" imgH="228600" progId="Equation.3">
                  <p:embed/>
                  <p:pic>
                    <p:nvPicPr>
                      <p:cNvPr id="1434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5" y="2824163"/>
                        <a:ext cx="1465263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732213" y="2781300"/>
            <a:ext cx="1728787" cy="46196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347" name="TextBox 12"/>
          <p:cNvSpPr txBox="1">
            <a:spLocks noChangeArrowheads="1"/>
          </p:cNvSpPr>
          <p:nvPr/>
        </p:nvSpPr>
        <p:spPr bwMode="auto">
          <a:xfrm>
            <a:off x="179388" y="3575050"/>
            <a:ext cx="8569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6213" indent="-176213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1800" b="0"/>
              <a:t>Thermal energy carried by each degree of freedom :</a:t>
            </a:r>
          </a:p>
        </p:txBody>
      </p:sp>
      <p:graphicFrame>
        <p:nvGraphicFramePr>
          <p:cNvPr id="14348" name="Object 13"/>
          <p:cNvGraphicFramePr>
            <a:graphicFrameLocks noChangeAspect="1"/>
          </p:cNvGraphicFramePr>
          <p:nvPr/>
        </p:nvGraphicFramePr>
        <p:xfrm>
          <a:off x="2078038" y="4033838"/>
          <a:ext cx="503555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98800" imgH="393700" progId="Equation.3">
                  <p:embed/>
                </p:oleObj>
              </mc:Choice>
              <mc:Fallback>
                <p:oleObj name="Equation" r:id="rId8" imgW="3098800" imgH="393700" progId="Equation.3">
                  <p:embed/>
                  <p:pic>
                    <p:nvPicPr>
                      <p:cNvPr id="1434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8038" y="4033838"/>
                        <a:ext cx="5035550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1884363" y="3997325"/>
            <a:ext cx="5424487" cy="7508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57200" y="30163"/>
            <a:ext cx="8229600" cy="563562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Basic Heat &amp; Thermodynamics </a:t>
            </a:r>
            <a:r>
              <a:rPr lang="en-US" dirty="0"/>
              <a:t>(Revision </a:t>
            </a:r>
            <a:r>
              <a:rPr lang="en-US" dirty="0">
                <a:latin typeface="Times"/>
                <a:cs typeface="Times"/>
              </a:rPr>
              <a:t>II</a:t>
            </a:r>
            <a:r>
              <a:rPr lang="en-US" dirty="0"/>
              <a:t>)</a:t>
            </a:r>
            <a:endParaRPr lang="en-US" dirty="0"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59113" y="1196975"/>
            <a:ext cx="2736850" cy="1511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051050" y="1952625"/>
            <a:ext cx="1008063" cy="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795963" y="1952625"/>
            <a:ext cx="1008062" cy="0"/>
          </a:xfrm>
          <a:prstGeom prst="straightConnector1">
            <a:avLst/>
          </a:prstGeom>
          <a:ln>
            <a:solidFill>
              <a:srgbClr val="0000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5" name="TextBox 8"/>
          <p:cNvSpPr txBox="1">
            <a:spLocks noChangeArrowheads="1"/>
          </p:cNvSpPr>
          <p:nvPr/>
        </p:nvSpPr>
        <p:spPr bwMode="auto">
          <a:xfrm>
            <a:off x="1058863" y="2044700"/>
            <a:ext cx="981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b="0"/>
              <a:t>heat input</a:t>
            </a:r>
          </a:p>
        </p:txBody>
      </p:sp>
      <p:graphicFrame>
        <p:nvGraphicFramePr>
          <p:cNvPr id="15366" name="Object 9"/>
          <p:cNvGraphicFramePr>
            <a:graphicFrameLocks noChangeAspect="1"/>
          </p:cNvGraphicFramePr>
          <p:nvPr/>
        </p:nvGraphicFramePr>
        <p:xfrm>
          <a:off x="1746250" y="1790700"/>
          <a:ext cx="24923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00" imgH="190500" progId="Equation.3">
                  <p:embed/>
                </p:oleObj>
              </mc:Choice>
              <mc:Fallback>
                <p:oleObj name="Equation" r:id="rId2" imgW="152400" imgH="190500" progId="Equation.3">
                  <p:embed/>
                  <p:pic>
                    <p:nvPicPr>
                      <p:cNvPr id="1536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250" y="1790700"/>
                        <a:ext cx="249238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10"/>
          <p:cNvGraphicFramePr>
            <a:graphicFrameLocks noChangeAspect="1"/>
          </p:cNvGraphicFramePr>
          <p:nvPr/>
        </p:nvGraphicFramePr>
        <p:xfrm>
          <a:off x="6845300" y="1811338"/>
          <a:ext cx="311150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500" imgH="165100" progId="Equation.3">
                  <p:embed/>
                </p:oleObj>
              </mc:Choice>
              <mc:Fallback>
                <p:oleObj name="Equation" r:id="rId4" imgW="190500" imgH="165100" progId="Equation.3">
                  <p:embed/>
                  <p:pic>
                    <p:nvPicPr>
                      <p:cNvPr id="1536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5300" y="1811338"/>
                        <a:ext cx="311150" cy="271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TextBox 11"/>
          <p:cNvSpPr txBox="1">
            <a:spLocks noChangeArrowheads="1"/>
          </p:cNvSpPr>
          <p:nvPr/>
        </p:nvSpPr>
        <p:spPr bwMode="auto">
          <a:xfrm>
            <a:off x="6824663" y="2044700"/>
            <a:ext cx="1871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b="0"/>
              <a:t>work done by system</a:t>
            </a:r>
          </a:p>
        </p:txBody>
      </p:sp>
      <p:graphicFrame>
        <p:nvGraphicFramePr>
          <p:cNvPr id="15369" name="Object 12"/>
          <p:cNvGraphicFramePr>
            <a:graphicFrameLocks noChangeAspect="1"/>
          </p:cNvGraphicFramePr>
          <p:nvPr/>
        </p:nvGraphicFramePr>
        <p:xfrm>
          <a:off x="4262438" y="1684338"/>
          <a:ext cx="436562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700" imgH="177800" progId="Equation.3">
                  <p:embed/>
                </p:oleObj>
              </mc:Choice>
              <mc:Fallback>
                <p:oleObj name="Equation" r:id="rId6" imgW="266700" imgH="177800" progId="Equation.3">
                  <p:embed/>
                  <p:pic>
                    <p:nvPicPr>
                      <p:cNvPr id="1536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2438" y="1684338"/>
                        <a:ext cx="436562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TextBox 13"/>
          <p:cNvSpPr txBox="1">
            <a:spLocks noChangeArrowheads="1"/>
          </p:cNvSpPr>
          <p:nvPr/>
        </p:nvSpPr>
        <p:spPr bwMode="auto">
          <a:xfrm>
            <a:off x="3348038" y="1931988"/>
            <a:ext cx="2209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b="0"/>
              <a:t>change in internal energy</a:t>
            </a:r>
          </a:p>
        </p:txBody>
      </p:sp>
      <p:sp>
        <p:nvSpPr>
          <p:cNvPr id="15371" name="TextBox 14"/>
          <p:cNvSpPr txBox="1">
            <a:spLocks noChangeArrowheads="1"/>
          </p:cNvSpPr>
          <p:nvPr/>
        </p:nvSpPr>
        <p:spPr bwMode="auto">
          <a:xfrm>
            <a:off x="3068638" y="1176338"/>
            <a:ext cx="7524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b="0">
                <a:solidFill>
                  <a:srgbClr val="FF0000"/>
                </a:solidFill>
              </a:rPr>
              <a:t>system</a:t>
            </a:r>
          </a:p>
        </p:txBody>
      </p:sp>
      <p:graphicFrame>
        <p:nvGraphicFramePr>
          <p:cNvPr id="15372" name="Object 15"/>
          <p:cNvGraphicFramePr>
            <a:graphicFrameLocks noChangeAspect="1"/>
          </p:cNvGraphicFramePr>
          <p:nvPr/>
        </p:nvGraphicFramePr>
        <p:xfrm>
          <a:off x="3851275" y="3556000"/>
          <a:ext cx="1300163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00100" imgH="203200" progId="Equation.3">
                  <p:embed/>
                </p:oleObj>
              </mc:Choice>
              <mc:Fallback>
                <p:oleObj name="Equation" r:id="rId8" imgW="800100" imgH="203200" progId="Equation.3">
                  <p:embed/>
                  <p:pic>
                    <p:nvPicPr>
                      <p:cNvPr id="15372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3556000"/>
                        <a:ext cx="1300163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3708400" y="3505200"/>
            <a:ext cx="1584325" cy="431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74" name="TextBox 17"/>
          <p:cNvSpPr txBox="1">
            <a:spLocks noChangeArrowheads="1"/>
          </p:cNvSpPr>
          <p:nvPr/>
        </p:nvSpPr>
        <p:spPr bwMode="auto">
          <a:xfrm>
            <a:off x="179388" y="3536950"/>
            <a:ext cx="3352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6213" indent="-176213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1800" b="0"/>
              <a:t>First law of thermodynamics 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>
          <a:xfrm>
            <a:off x="457200" y="30163"/>
            <a:ext cx="8229600" cy="563562"/>
          </a:xfrm>
        </p:spPr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Arial" charset="0"/>
              </a:rPr>
              <a:t>Efficiency of a Steam Power Plant</a:t>
            </a:r>
          </a:p>
        </p:txBody>
      </p:sp>
      <p:pic>
        <p:nvPicPr>
          <p:cNvPr id="16386" name="Picture 3" descr="figure1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692150"/>
            <a:ext cx="4535487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107950" y="4292600"/>
            <a:ext cx="8856663" cy="1944688"/>
          </a:xfrm>
          <a:prstGeom prst="roundRect">
            <a:avLst>
              <a:gd name="adj" fmla="val 2773"/>
            </a:avLst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6388" name="Object 6"/>
          <p:cNvGraphicFramePr>
            <a:graphicFrameLocks noChangeAspect="1"/>
          </p:cNvGraphicFramePr>
          <p:nvPr/>
        </p:nvGraphicFramePr>
        <p:xfrm>
          <a:off x="280988" y="4903788"/>
          <a:ext cx="23939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73200" imgH="419100" progId="Equation.3">
                  <p:embed/>
                </p:oleObj>
              </mc:Choice>
              <mc:Fallback>
                <p:oleObj name="Equation" r:id="rId3" imgW="1473200" imgH="419100" progId="Equation.3">
                  <p:embed/>
                  <p:pic>
                    <p:nvPicPr>
                      <p:cNvPr id="1638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8" y="4903788"/>
                        <a:ext cx="239395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7"/>
          <p:cNvGraphicFramePr>
            <a:graphicFrameLocks noChangeAspect="1"/>
          </p:cNvGraphicFramePr>
          <p:nvPr/>
        </p:nvGraphicFramePr>
        <p:xfrm>
          <a:off x="2406650" y="3946525"/>
          <a:ext cx="80486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95300" imgH="177800" progId="Equation.3">
                  <p:embed/>
                </p:oleObj>
              </mc:Choice>
              <mc:Fallback>
                <p:oleObj name="Equation" r:id="rId5" imgW="495300" imgH="177800" progId="Equation.3">
                  <p:embed/>
                  <p:pic>
                    <p:nvPicPr>
                      <p:cNvPr id="1638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650" y="3946525"/>
                        <a:ext cx="804863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TextBox 9"/>
          <p:cNvSpPr txBox="1">
            <a:spLocks noChangeArrowheads="1"/>
          </p:cNvSpPr>
          <p:nvPr/>
        </p:nvSpPr>
        <p:spPr bwMode="auto">
          <a:xfrm>
            <a:off x="107950" y="3900488"/>
            <a:ext cx="2338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6213" indent="-176213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1800" b="0"/>
              <a:t>For a closed cycle 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0A9415-7D3A-005F-2D21-3FF2B7EED8D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49878"/>
          <a:stretch/>
        </p:blipFill>
        <p:spPr>
          <a:xfrm>
            <a:off x="5402386" y="3364359"/>
            <a:ext cx="2590555" cy="3777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74C1CF-82DE-9F7A-6E41-BF955234EB04}"/>
              </a:ext>
            </a:extLst>
          </p:cNvPr>
          <p:cNvPicPr>
            <a:picLocks/>
          </p:cNvPicPr>
          <p:nvPr/>
        </p:nvPicPr>
        <p:blipFill rotWithShape="1">
          <a:blip r:embed="rId8"/>
          <a:srcRect t="22624" b="11116"/>
          <a:stretch/>
        </p:blipFill>
        <p:spPr>
          <a:xfrm>
            <a:off x="2674938" y="4797151"/>
            <a:ext cx="5783262" cy="10081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C55734-8B5F-9CC9-B8C0-C74402C6FA66}"/>
              </a:ext>
            </a:extLst>
          </p:cNvPr>
          <p:cNvSpPr txBox="1"/>
          <p:nvPr/>
        </p:nvSpPr>
        <p:spPr>
          <a:xfrm>
            <a:off x="467544" y="5826750"/>
            <a:ext cx="5976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n.b</a:t>
            </a:r>
            <a:r>
              <a:rPr lang="en-US" dirty="0"/>
              <a:t> 100% efficiency is impossible - 2</a:t>
            </a:r>
            <a:r>
              <a:rPr lang="en-US" baseline="30000" dirty="0"/>
              <a:t>nd</a:t>
            </a:r>
            <a:r>
              <a:rPr lang="en-US" dirty="0"/>
              <a:t> law thermodynamics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14D592-4956-C3C9-BBC5-A63ADFA78B4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1129"/>
          <a:stretch/>
        </p:blipFill>
        <p:spPr>
          <a:xfrm>
            <a:off x="5402386" y="3745263"/>
            <a:ext cx="2590555" cy="368301"/>
          </a:xfrm>
          <a:prstGeom prst="rect">
            <a:avLst/>
          </a:prstGeom>
        </p:spPr>
      </p:pic>
      <p:graphicFrame>
        <p:nvGraphicFramePr>
          <p:cNvPr id="7" name="Object 15">
            <a:extLst>
              <a:ext uri="{FF2B5EF4-FFF2-40B4-BE49-F238E27FC236}">
                <a16:creationId xmlns:a16="http://schemas.microsoft.com/office/drawing/2014/main" id="{105F9C8F-863E-AC3B-30F9-2AD6A37CB0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7544" y="1442719"/>
          <a:ext cx="1300163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00100" imgH="203200" progId="Equation.3">
                  <p:embed/>
                </p:oleObj>
              </mc:Choice>
              <mc:Fallback>
                <p:oleObj name="Equation" r:id="rId9" imgW="800100" imgH="203200" progId="Equation.3">
                  <p:embed/>
                  <p:pic>
                    <p:nvPicPr>
                      <p:cNvPr id="7" name="Object 15">
                        <a:extLst>
                          <a:ext uri="{FF2B5EF4-FFF2-40B4-BE49-F238E27FC236}">
                            <a16:creationId xmlns:a16="http://schemas.microsoft.com/office/drawing/2014/main" id="{105F9C8F-863E-AC3B-30F9-2AD6A37CB0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1442719"/>
                        <a:ext cx="1300163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546A3A7-B2EB-7E83-1ED4-A65B5B707710}"/>
              </a:ext>
            </a:extLst>
          </p:cNvPr>
          <p:cNvSpPr/>
          <p:nvPr/>
        </p:nvSpPr>
        <p:spPr>
          <a:xfrm>
            <a:off x="324669" y="1391919"/>
            <a:ext cx="1584325" cy="431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7200" y="30163"/>
            <a:ext cx="8229600" cy="563562"/>
          </a:xfrm>
        </p:spPr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Arial" charset="0"/>
              </a:rPr>
              <a:t>Carnot Cycle &amp; Efficiency</a:t>
            </a:r>
          </a:p>
        </p:txBody>
      </p:sp>
      <p:pic>
        <p:nvPicPr>
          <p:cNvPr id="17410" name="Picture 4" descr="Carnot_cycle_p-V_diagr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20713"/>
            <a:ext cx="3816350" cy="305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284663" y="765175"/>
            <a:ext cx="4679950" cy="2735263"/>
          </a:xfrm>
          <a:prstGeom prst="roundRect">
            <a:avLst>
              <a:gd name="adj" fmla="val 2773"/>
            </a:avLst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12" name="TextBox 6"/>
          <p:cNvSpPr txBox="1">
            <a:spLocks noChangeArrowheads="1"/>
          </p:cNvSpPr>
          <p:nvPr/>
        </p:nvSpPr>
        <p:spPr bwMode="auto">
          <a:xfrm>
            <a:off x="4427538" y="836613"/>
            <a:ext cx="3724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6213" indent="-176213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1800" b="0"/>
              <a:t>Carnot cycle on a (T,V) diagram 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825" y="3597275"/>
            <a:ext cx="8713788" cy="2735263"/>
          </a:xfrm>
          <a:prstGeom prst="roundRect">
            <a:avLst>
              <a:gd name="adj" fmla="val 2773"/>
            </a:avLst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14" name="TextBox 8"/>
          <p:cNvSpPr txBox="1">
            <a:spLocks noChangeArrowheads="1"/>
          </p:cNvSpPr>
          <p:nvPr/>
        </p:nvSpPr>
        <p:spPr bwMode="auto">
          <a:xfrm>
            <a:off x="307975" y="3694113"/>
            <a:ext cx="41862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6213" indent="-176213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1800" b="0" dirty="0"/>
              <a:t>Calculate Q</a:t>
            </a:r>
            <a:r>
              <a:rPr lang="en-US" sz="1800" b="0" baseline="-25000" dirty="0"/>
              <a:t>1</a:t>
            </a:r>
            <a:r>
              <a:rPr lang="en-US" sz="1800" b="0" dirty="0"/>
              <a:t> and Q</a:t>
            </a:r>
            <a:r>
              <a:rPr lang="en-US" sz="1800" b="0" baseline="-25000" dirty="0"/>
              <a:t>2</a:t>
            </a:r>
            <a:r>
              <a:rPr lang="en-US" sz="1800" b="0" dirty="0"/>
              <a:t> for an ideal gas 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B33454-1B30-7296-8867-75DD9C542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135" y="1227138"/>
            <a:ext cx="4561868" cy="2201862"/>
          </a:xfrm>
          <a:prstGeom prst="rect">
            <a:avLst/>
          </a:prstGeom>
        </p:spPr>
      </p:pic>
      <p:graphicFrame>
        <p:nvGraphicFramePr>
          <p:cNvPr id="3" name="Object 15">
            <a:extLst>
              <a:ext uri="{FF2B5EF4-FFF2-40B4-BE49-F238E27FC236}">
                <a16:creationId xmlns:a16="http://schemas.microsoft.com/office/drawing/2014/main" id="{0FD64ABC-A701-8014-6B04-1C3E9F267E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6883" y="3745284"/>
          <a:ext cx="1300163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00100" imgH="203200" progId="Equation.3">
                  <p:embed/>
                </p:oleObj>
              </mc:Choice>
              <mc:Fallback>
                <p:oleObj name="Equation" r:id="rId4" imgW="800100" imgH="203200" progId="Equation.3">
                  <p:embed/>
                  <p:pic>
                    <p:nvPicPr>
                      <p:cNvPr id="3" name="Object 15">
                        <a:extLst>
                          <a:ext uri="{FF2B5EF4-FFF2-40B4-BE49-F238E27FC236}">
                            <a16:creationId xmlns:a16="http://schemas.microsoft.com/office/drawing/2014/main" id="{0FD64ABC-A701-8014-6B04-1C3E9F267E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883" y="3745284"/>
                        <a:ext cx="1300163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428CC50-2724-4673-7091-20C0CA49FE13}"/>
              </a:ext>
            </a:extLst>
          </p:cNvPr>
          <p:cNvSpPr/>
          <p:nvPr/>
        </p:nvSpPr>
        <p:spPr>
          <a:xfrm>
            <a:off x="4644008" y="3717280"/>
            <a:ext cx="1584325" cy="431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7" name="Object 12">
            <a:extLst>
              <a:ext uri="{FF2B5EF4-FFF2-40B4-BE49-F238E27FC236}">
                <a16:creationId xmlns:a16="http://schemas.microsoft.com/office/drawing/2014/main" id="{8E7B4383-2492-2E06-A66F-DAA31E5A35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1132" y="3766715"/>
          <a:ext cx="436562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700" imgH="177800" progId="Equation.3">
                  <p:embed/>
                </p:oleObj>
              </mc:Choice>
              <mc:Fallback>
                <p:oleObj name="Equation" r:id="rId6" imgW="266700" imgH="177800" progId="Equation.3">
                  <p:embed/>
                  <p:pic>
                    <p:nvPicPr>
                      <p:cNvPr id="7" name="Object 12">
                        <a:extLst>
                          <a:ext uri="{FF2B5EF4-FFF2-40B4-BE49-F238E27FC236}">
                            <a16:creationId xmlns:a16="http://schemas.microsoft.com/office/drawing/2014/main" id="{8E7B4383-2492-2E06-A66F-DAA31E5A35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1132" y="3766715"/>
                        <a:ext cx="436562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A192262-0566-4D1C-69C7-1F3C32C3AFA8}"/>
              </a:ext>
            </a:extLst>
          </p:cNvPr>
          <p:cNvSpPr txBox="1"/>
          <p:nvPr/>
        </p:nvSpPr>
        <p:spPr>
          <a:xfrm>
            <a:off x="6827884" y="3741577"/>
            <a:ext cx="20595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= 0 (for isothermal)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A6A6BF-31E3-BB8D-E703-6878FAA6A8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530" y="4269085"/>
            <a:ext cx="8634675" cy="18237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5C0FCC-182E-D291-D425-ADA0DF24E2A3}"/>
              </a:ext>
            </a:extLst>
          </p:cNvPr>
          <p:cNvSpPr txBox="1"/>
          <p:nvPr/>
        </p:nvSpPr>
        <p:spPr>
          <a:xfrm>
            <a:off x="7568800" y="4149080"/>
            <a:ext cx="1275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 err="1"/>
              <a:t>pV</a:t>
            </a:r>
            <a:r>
              <a:rPr lang="en-US" b="0" dirty="0"/>
              <a:t> = </a:t>
            </a:r>
            <a:r>
              <a:rPr lang="en-US" b="0" dirty="0" err="1"/>
              <a:t>nRT</a:t>
            </a:r>
            <a:endParaRPr lang="en-US" b="0" dirty="0"/>
          </a:p>
        </p:txBody>
      </p:sp>
      <p:graphicFrame>
        <p:nvGraphicFramePr>
          <p:cNvPr id="14" name="Object 15">
            <a:extLst>
              <a:ext uri="{FF2B5EF4-FFF2-40B4-BE49-F238E27FC236}">
                <a16:creationId xmlns:a16="http://schemas.microsoft.com/office/drawing/2014/main" id="{CC9E8491-7A56-49A2-9C76-1996A8C490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6493" y="868559"/>
          <a:ext cx="1300163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00100" imgH="203200" progId="Equation.3">
                  <p:embed/>
                </p:oleObj>
              </mc:Choice>
              <mc:Fallback>
                <p:oleObj name="Equation" r:id="rId9" imgW="800100" imgH="203200" progId="Equation.3">
                  <p:embed/>
                  <p:pic>
                    <p:nvPicPr>
                      <p:cNvPr id="14" name="Object 15">
                        <a:extLst>
                          <a:ext uri="{FF2B5EF4-FFF2-40B4-BE49-F238E27FC236}">
                            <a16:creationId xmlns:a16="http://schemas.microsoft.com/office/drawing/2014/main" id="{CC9E8491-7A56-49A2-9C76-1996A8C490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6493" y="868559"/>
                        <a:ext cx="1300163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0E1C88-4024-2D07-3750-C2F1309147FE}"/>
              </a:ext>
            </a:extLst>
          </p:cNvPr>
          <p:cNvSpPr/>
          <p:nvPr/>
        </p:nvSpPr>
        <p:spPr>
          <a:xfrm>
            <a:off x="1573618" y="817759"/>
            <a:ext cx="1584325" cy="431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457200" y="30163"/>
            <a:ext cx="8229600" cy="563562"/>
          </a:xfrm>
        </p:spPr>
        <p:txBody>
          <a:bodyPr/>
          <a:lstStyle/>
          <a:p>
            <a:r>
              <a:rPr lang="en-US">
                <a:latin typeface="Arial" charset="0"/>
                <a:ea typeface="ＭＳ Ｐゴシック" charset="0"/>
                <a:cs typeface="Arial" charset="0"/>
              </a:rPr>
              <a:t>Carnot Cycle &amp; Efficiency</a:t>
            </a:r>
          </a:p>
        </p:txBody>
      </p:sp>
      <p:sp>
        <p:nvSpPr>
          <p:cNvPr id="18434" name="TextBox 5"/>
          <p:cNvSpPr txBox="1">
            <a:spLocks noChangeArrowheads="1"/>
          </p:cNvSpPr>
          <p:nvPr/>
        </p:nvSpPr>
        <p:spPr bwMode="auto">
          <a:xfrm>
            <a:off x="4427538" y="836613"/>
            <a:ext cx="29162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6213" indent="-176213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1800" b="0"/>
              <a:t>From the previous page :</a:t>
            </a:r>
          </a:p>
        </p:txBody>
      </p:sp>
      <p:sp>
        <p:nvSpPr>
          <p:cNvPr id="18435" name="TextBox 7"/>
          <p:cNvSpPr txBox="1">
            <a:spLocks noChangeArrowheads="1"/>
          </p:cNvSpPr>
          <p:nvPr/>
        </p:nvSpPr>
        <p:spPr bwMode="auto">
          <a:xfrm>
            <a:off x="307975" y="3692525"/>
            <a:ext cx="2198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6213" indent="-176213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sz="1800" b="0"/>
              <a:t>Carnot efficiency :</a:t>
            </a:r>
          </a:p>
        </p:txBody>
      </p:sp>
      <p:graphicFrame>
        <p:nvGraphicFramePr>
          <p:cNvPr id="18436" name="Object 8"/>
          <p:cNvGraphicFramePr>
            <a:graphicFrameLocks noChangeAspect="1"/>
          </p:cNvGraphicFramePr>
          <p:nvPr/>
        </p:nvGraphicFramePr>
        <p:xfrm>
          <a:off x="4643438" y="1439863"/>
          <a:ext cx="19812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9200" imgH="203200" progId="Equation.3">
                  <p:embed/>
                </p:oleObj>
              </mc:Choice>
              <mc:Fallback>
                <p:oleObj name="Equation" r:id="rId2" imgW="1219200" imgH="203200" progId="Equation.3">
                  <p:embed/>
                  <p:pic>
                    <p:nvPicPr>
                      <p:cNvPr id="1843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439863"/>
                        <a:ext cx="198120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9"/>
          <p:cNvGraphicFramePr>
            <a:graphicFrameLocks noChangeAspect="1"/>
          </p:cNvGraphicFramePr>
          <p:nvPr/>
        </p:nvGraphicFramePr>
        <p:xfrm>
          <a:off x="4643438" y="1862138"/>
          <a:ext cx="206375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70000" imgH="215900" progId="Equation.3">
                  <p:embed/>
                </p:oleObj>
              </mc:Choice>
              <mc:Fallback>
                <p:oleObj name="Equation" r:id="rId4" imgW="1270000" imgH="215900" progId="Equation.3">
                  <p:embed/>
                  <p:pic>
                    <p:nvPicPr>
                      <p:cNvPr id="1843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862138"/>
                        <a:ext cx="2063750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284663" y="765175"/>
            <a:ext cx="4679950" cy="2735263"/>
          </a:xfrm>
          <a:prstGeom prst="roundRect">
            <a:avLst>
              <a:gd name="adj" fmla="val 2773"/>
            </a:avLst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8439" name="Picture 11" descr="Carnot_cycle_p-V_diagram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620713"/>
            <a:ext cx="3816350" cy="305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ounded Rectangle 12"/>
          <p:cNvSpPr/>
          <p:nvPr/>
        </p:nvSpPr>
        <p:spPr>
          <a:xfrm>
            <a:off x="250825" y="3597275"/>
            <a:ext cx="8713788" cy="2735263"/>
          </a:xfrm>
          <a:prstGeom prst="roundRect">
            <a:avLst>
              <a:gd name="adj" fmla="val 2773"/>
            </a:avLst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671C06-3391-66C2-93C7-721A519027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4048" y="2237626"/>
            <a:ext cx="3094980" cy="11337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60DBE2-100F-F387-6979-26EB12F8598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2628"/>
          <a:stretch/>
        </p:blipFill>
        <p:spPr>
          <a:xfrm>
            <a:off x="107949" y="3515726"/>
            <a:ext cx="9036051" cy="30527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991C17-D488-AA20-C1E8-43B76A4F45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4761" y="1251582"/>
            <a:ext cx="962242" cy="7500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le 1"/>
          <p:cNvSpPr>
            <a:spLocks/>
          </p:cNvSpPr>
          <p:nvPr/>
        </p:nvSpPr>
        <p:spPr bwMode="auto">
          <a:xfrm>
            <a:off x="450850" y="76200"/>
            <a:ext cx="82296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2800">
                <a:solidFill>
                  <a:schemeClr val="tx2"/>
                </a:solidFill>
                <a:cs typeface="Arial" charset="0"/>
              </a:rPr>
              <a:t>Units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79388" y="781050"/>
            <a:ext cx="8785225" cy="631825"/>
          </a:xfrm>
        </p:spPr>
        <p:txBody>
          <a:bodyPr/>
          <a:lstStyle/>
          <a:p>
            <a:pPr marL="265113" indent="-265113">
              <a:spcBef>
                <a:spcPts val="0"/>
              </a:spcBef>
              <a:spcAft>
                <a:spcPts val="600"/>
              </a:spcAft>
              <a:defRPr/>
            </a:pPr>
            <a:r>
              <a:rPr lang="en-US" u="sng" dirty="0"/>
              <a:t>Energy</a:t>
            </a:r>
            <a:r>
              <a:rPr lang="en-US" dirty="0"/>
              <a:t> : kilowatt-hour (</a:t>
            </a:r>
            <a:r>
              <a:rPr lang="en-US" dirty="0">
                <a:solidFill>
                  <a:srgbClr val="FF0000"/>
                </a:solidFill>
              </a:rPr>
              <a:t>kWh</a:t>
            </a:r>
            <a:r>
              <a:rPr lang="en-US" dirty="0"/>
              <a:t>)</a:t>
            </a:r>
          </a:p>
          <a:p>
            <a:pPr marL="0" indent="0">
              <a:spcAft>
                <a:spcPts val="1200"/>
              </a:spcAft>
              <a:buFontTx/>
              <a:buNone/>
              <a:defRPr/>
            </a:pPr>
            <a:endParaRPr lang="en-US" dirty="0"/>
          </a:p>
        </p:txBody>
      </p:sp>
      <p:graphicFrame>
        <p:nvGraphicFramePr>
          <p:cNvPr id="7171" name="Object 1"/>
          <p:cNvGraphicFramePr>
            <a:graphicFrameLocks noChangeAspect="1"/>
          </p:cNvGraphicFramePr>
          <p:nvPr/>
        </p:nvGraphicFramePr>
        <p:xfrm>
          <a:off x="2363788" y="1423988"/>
          <a:ext cx="10795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600" imgH="177800" progId="Equation.3">
                  <p:embed/>
                </p:oleObj>
              </mc:Choice>
              <mc:Fallback>
                <p:oleObj name="Equation" r:id="rId2" imgW="609600" imgH="177800" progId="Equation.3">
                  <p:embed/>
                  <p:pic>
                    <p:nvPicPr>
                      <p:cNvPr id="717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3788" y="1423988"/>
                        <a:ext cx="10795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ounded Rectangle 2"/>
          <p:cNvSpPr/>
          <p:nvPr/>
        </p:nvSpPr>
        <p:spPr>
          <a:xfrm>
            <a:off x="2195513" y="1292225"/>
            <a:ext cx="5208587" cy="576263"/>
          </a:xfrm>
          <a:prstGeom prst="roundRect">
            <a:avLst>
              <a:gd name="adj" fmla="val 12507"/>
            </a:avLst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79388" y="2005013"/>
            <a:ext cx="8785225" cy="200025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65113" lvl="1" indent="-265113">
              <a:spcBef>
                <a:spcPts val="0"/>
              </a:spcBef>
              <a:spcAft>
                <a:spcPts val="600"/>
              </a:spcAft>
              <a:buFontTx/>
              <a:buChar char="•"/>
              <a:defRPr/>
            </a:pPr>
            <a:r>
              <a:rPr lang="en-US" b="0" dirty="0"/>
              <a:t>Thermal and electric units : </a:t>
            </a:r>
            <a:r>
              <a:rPr lang="en-US" b="0" dirty="0">
                <a:solidFill>
                  <a:srgbClr val="0000FF"/>
                </a:solidFill>
              </a:rPr>
              <a:t>kWh</a:t>
            </a:r>
            <a:r>
              <a:rPr lang="en-US" b="0" dirty="0"/>
              <a:t> and </a:t>
            </a:r>
            <a:r>
              <a:rPr lang="en-US" b="0" dirty="0" err="1">
                <a:solidFill>
                  <a:srgbClr val="0000FF"/>
                </a:solidFill>
              </a:rPr>
              <a:t>kWh</a:t>
            </a:r>
            <a:r>
              <a:rPr lang="en-US" b="0" baseline="-25000" dirty="0" err="1">
                <a:solidFill>
                  <a:srgbClr val="0000FF"/>
                </a:solidFill>
              </a:rPr>
              <a:t>e</a:t>
            </a:r>
            <a:endParaRPr lang="en-US" b="0" dirty="0">
              <a:solidFill>
                <a:srgbClr val="0000FF"/>
              </a:solidFill>
            </a:endParaRPr>
          </a:p>
          <a:p>
            <a:pPr marL="265113" indent="-265113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0" dirty="0"/>
              <a:t>In a power station, the two are related by the efficiency of electrical energy generation.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FontTx/>
              <a:buNone/>
              <a:defRPr/>
            </a:pPr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173037" y="3363020"/>
            <a:ext cx="8785225" cy="63182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65113" indent="-265113">
              <a:spcBef>
                <a:spcPts val="0"/>
              </a:spcBef>
              <a:spcAft>
                <a:spcPts val="600"/>
              </a:spcAft>
              <a:defRPr/>
            </a:pPr>
            <a:r>
              <a:rPr lang="en-US" b="0" u="sng" dirty="0"/>
              <a:t>Power</a:t>
            </a:r>
            <a:r>
              <a:rPr lang="en-US" b="0" dirty="0"/>
              <a:t> : kilowatt-hour per day (</a:t>
            </a:r>
            <a:r>
              <a:rPr lang="en-US" b="0" dirty="0">
                <a:solidFill>
                  <a:srgbClr val="FF0000"/>
                </a:solidFill>
              </a:rPr>
              <a:t>kWh d</a:t>
            </a:r>
            <a:r>
              <a:rPr lang="en-US" b="0" baseline="30000" dirty="0">
                <a:solidFill>
                  <a:srgbClr val="FF0000"/>
                </a:solidFill>
              </a:rPr>
              <a:t>-1</a:t>
            </a:r>
            <a:r>
              <a:rPr lang="en-US" b="0" dirty="0"/>
              <a:t>)</a:t>
            </a:r>
          </a:p>
          <a:p>
            <a:pPr marL="0" indent="0">
              <a:spcAft>
                <a:spcPts val="1200"/>
              </a:spcAft>
              <a:buFontTx/>
              <a:buNone/>
              <a:defRPr/>
            </a:pPr>
            <a:endParaRPr lang="en-US" dirty="0"/>
          </a:p>
        </p:txBody>
      </p:sp>
      <p:graphicFrame>
        <p:nvGraphicFramePr>
          <p:cNvPr id="717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638098"/>
              </p:ext>
            </p:extLst>
          </p:nvPr>
        </p:nvGraphicFramePr>
        <p:xfrm>
          <a:off x="2358521" y="4112915"/>
          <a:ext cx="137160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700" imgH="203200" progId="Equation.3">
                  <p:embed/>
                </p:oleObj>
              </mc:Choice>
              <mc:Fallback>
                <p:oleObj name="Equation" r:id="rId4" imgW="774700" imgH="203200" progId="Equation.3">
                  <p:embed/>
                  <p:pic>
                    <p:nvPicPr>
                      <p:cNvPr id="717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8521" y="4112915"/>
                        <a:ext cx="137160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2195513" y="4021139"/>
            <a:ext cx="5208587" cy="576262"/>
          </a:xfrm>
          <a:prstGeom prst="roundRect">
            <a:avLst>
              <a:gd name="adj" fmla="val 12507"/>
            </a:avLst>
          </a:prstGeom>
          <a:noFill/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4F4571C8-8A7A-E74F-BB86-7C45C99C57DB}"/>
              </a:ext>
            </a:extLst>
          </p:cNvPr>
          <p:cNvSpPr/>
          <p:nvPr/>
        </p:nvSpPr>
        <p:spPr>
          <a:xfrm>
            <a:off x="4427984" y="3717032"/>
            <a:ext cx="72008" cy="576064"/>
          </a:xfrm>
          <a:prstGeom prst="rightBrac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le 1"/>
          <p:cNvSpPr>
            <a:spLocks noGrp="1"/>
          </p:cNvSpPr>
          <p:nvPr>
            <p:ph type="title"/>
          </p:nvPr>
        </p:nvSpPr>
        <p:spPr>
          <a:xfrm>
            <a:off x="450850" y="44450"/>
            <a:ext cx="8229600" cy="563563"/>
          </a:xfrm>
        </p:spPr>
        <p:txBody>
          <a:bodyPr/>
          <a:lstStyle/>
          <a:p>
            <a:pPr eaLnBrk="1" hangingPunct="1"/>
            <a:r>
              <a:rPr lang="en-US" b="1" dirty="0">
                <a:latin typeface="Arial" charset="0"/>
                <a:ea typeface="ＭＳ Ｐゴシック" charset="0"/>
                <a:cs typeface="Arial" charset="0"/>
              </a:rPr>
              <a:t>Problem Based Learning Session 1</a:t>
            </a:r>
          </a:p>
        </p:txBody>
      </p:sp>
      <p:sp>
        <p:nvSpPr>
          <p:cNvPr id="5124" name="Title 1"/>
          <p:cNvSpPr>
            <a:spLocks/>
          </p:cNvSpPr>
          <p:nvPr/>
        </p:nvSpPr>
        <p:spPr bwMode="auto">
          <a:xfrm>
            <a:off x="450850" y="711200"/>
            <a:ext cx="82296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2000" dirty="0">
                <a:solidFill>
                  <a:schemeClr val="tx2"/>
                </a:solidFill>
                <a:cs typeface="Arial" charset="0"/>
              </a:rPr>
              <a:t>PHAS0050 : Climate &amp; Energy</a:t>
            </a:r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63A760A8-AA04-6F1A-D29B-A9F118568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72" y="2466330"/>
            <a:ext cx="7861152" cy="35549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06F2C7-AE0F-478A-F321-CEEF8C127EFD}"/>
              </a:ext>
            </a:extLst>
          </p:cNvPr>
          <p:cNvSpPr txBox="1"/>
          <p:nvPr/>
        </p:nvSpPr>
        <p:spPr>
          <a:xfrm>
            <a:off x="527272" y="1988840"/>
            <a:ext cx="7596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UK natural gas production and consumption (billion cubic </a:t>
            </a:r>
            <a:r>
              <a:rPr lang="en-US" sz="1800" dirty="0" err="1"/>
              <a:t>metres</a:t>
            </a:r>
            <a:r>
              <a:rPr lang="en-US" sz="1800" dirty="0"/>
              <a:t>)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2C6AE-B050-B2D2-689B-891BB1E3C81A}"/>
              </a:ext>
            </a:extLst>
          </p:cNvPr>
          <p:cNvSpPr txBox="1"/>
          <p:nvPr/>
        </p:nvSpPr>
        <p:spPr>
          <a:xfrm>
            <a:off x="6791968" y="4797152"/>
            <a:ext cx="11416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7030A0"/>
                </a:solidFill>
              </a:rPr>
              <a:t>production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EB7F36-ADFD-7D6B-4B42-E0D1890D24C1}"/>
              </a:ext>
            </a:extLst>
          </p:cNvPr>
          <p:cNvSpPr txBox="1"/>
          <p:nvPr/>
        </p:nvSpPr>
        <p:spPr>
          <a:xfrm>
            <a:off x="6652713" y="2585707"/>
            <a:ext cx="17030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B0F0"/>
                </a:solidFill>
              </a:rPr>
              <a:t>consumption </a:t>
            </a:r>
          </a:p>
          <a:p>
            <a:r>
              <a:rPr lang="en-US" b="0" dirty="0">
                <a:solidFill>
                  <a:srgbClr val="00B0F0"/>
                </a:solidFill>
              </a:rPr>
              <a:t>(domestic &amp; power/industrial)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32FA4-717E-1C28-4A86-061F91CEF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 of ‘natural gas’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F4A17-B5E8-F24F-C671-3B67E2E3F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What's the difference between natural gas, liquid natural gas, shale gas,  shale oil and methane? An oil and gas glossary - Carbon Brief">
            <a:extLst>
              <a:ext uri="{FF2B5EF4-FFF2-40B4-BE49-F238E27FC236}">
                <a16:creationId xmlns:a16="http://schemas.microsoft.com/office/drawing/2014/main" id="{41D7EE45-8109-83B4-7D57-23AD5B137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96752"/>
            <a:ext cx="7673173" cy="409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6537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8EE58-47DF-93DC-E581-8F76F1677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Problem Based Learning Session 1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80B3EA-2C3E-3AE8-382C-D9745B6A0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4" y="1747705"/>
            <a:ext cx="5400600" cy="22230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70BE0D-B932-F869-3961-C8692F1337F2}"/>
              </a:ext>
            </a:extLst>
          </p:cNvPr>
          <p:cNvSpPr txBox="1"/>
          <p:nvPr/>
        </p:nvSpPr>
        <p:spPr>
          <a:xfrm>
            <a:off x="118823" y="1331390"/>
            <a:ext cx="971741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2021 Q2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57187E-6043-C403-4C09-F3BDB7DA24DE}"/>
              </a:ext>
            </a:extLst>
          </p:cNvPr>
          <p:cNvSpPr/>
          <p:nvPr/>
        </p:nvSpPr>
        <p:spPr>
          <a:xfrm>
            <a:off x="44874" y="1196752"/>
            <a:ext cx="5400600" cy="3816424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99F48E-79AB-DE63-D64B-B2EBD6E42EBA}"/>
              </a:ext>
            </a:extLst>
          </p:cNvPr>
          <p:cNvSpPr/>
          <p:nvPr/>
        </p:nvSpPr>
        <p:spPr>
          <a:xfrm>
            <a:off x="5531950" y="1196752"/>
            <a:ext cx="3529598" cy="3816424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39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E702F-F936-BFAD-8C6A-220310BBE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Problem Based Learning Session 1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EE366FF-721C-2EE3-A4CA-433D348ED432}"/>
              </a:ext>
            </a:extLst>
          </p:cNvPr>
          <p:cNvGrpSpPr/>
          <p:nvPr/>
        </p:nvGrpSpPr>
        <p:grpSpPr>
          <a:xfrm>
            <a:off x="213062" y="1412776"/>
            <a:ext cx="8679418" cy="4336234"/>
            <a:chOff x="213062" y="1685054"/>
            <a:chExt cx="8679418" cy="4336234"/>
          </a:xfrm>
        </p:grpSpPr>
        <p:pic>
          <p:nvPicPr>
            <p:cNvPr id="7" name="Picture 6" descr="Diagram&#10;&#10;Description automatically generated">
              <a:extLst>
                <a:ext uri="{FF2B5EF4-FFF2-40B4-BE49-F238E27FC236}">
                  <a16:creationId xmlns:a16="http://schemas.microsoft.com/office/drawing/2014/main" id="{02D474BE-4F96-24F7-998F-2A83BF558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9085" y="2132172"/>
              <a:ext cx="7363395" cy="388911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Picture 4" descr="A picture containing monitor, microwave, window, flat&#10;&#10;Description automatically generated">
              <a:extLst>
                <a:ext uri="{FF2B5EF4-FFF2-40B4-BE49-F238E27FC236}">
                  <a16:creationId xmlns:a16="http://schemas.microsoft.com/office/drawing/2014/main" id="{EF65DF4B-1783-00A8-52D1-8516162E0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3062" y="1700808"/>
              <a:ext cx="2556386" cy="21972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DB38D7E-6098-089E-AF83-AE993515BFA0}"/>
                </a:ext>
              </a:extLst>
            </p:cNvPr>
            <p:cNvSpPr txBox="1"/>
            <p:nvPr/>
          </p:nvSpPr>
          <p:spPr>
            <a:xfrm>
              <a:off x="4067944" y="1685054"/>
              <a:ext cx="27109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Heat Pump (air source)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7511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A0F62-14BF-424B-878C-9F2CFECF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Problem Based Learning Session 1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7E6760-48BF-824A-8E42-7A0868C54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908720"/>
            <a:ext cx="6554305" cy="208823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E6C7310-145D-5542-8923-722F39DE1ECB}"/>
              </a:ext>
            </a:extLst>
          </p:cNvPr>
          <p:cNvSpPr/>
          <p:nvPr/>
        </p:nvSpPr>
        <p:spPr>
          <a:xfrm>
            <a:off x="107504" y="692696"/>
            <a:ext cx="8856984" cy="2664296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317DA3-9BF4-884E-A49F-54F2710A8914}"/>
              </a:ext>
            </a:extLst>
          </p:cNvPr>
          <p:cNvSpPr/>
          <p:nvPr/>
        </p:nvSpPr>
        <p:spPr>
          <a:xfrm>
            <a:off x="107504" y="3429000"/>
            <a:ext cx="8856984" cy="2952328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338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510EB-526F-D644-B5CB-7E9F78646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Problem Based Learning Session 1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24173B-39D6-E843-B2C0-00845B44E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908720"/>
            <a:ext cx="6928882" cy="230425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8FB97F-060C-FE4A-B845-0BFCCE608DB1}"/>
              </a:ext>
            </a:extLst>
          </p:cNvPr>
          <p:cNvSpPr/>
          <p:nvPr/>
        </p:nvSpPr>
        <p:spPr>
          <a:xfrm>
            <a:off x="107504" y="692696"/>
            <a:ext cx="8856984" cy="2664296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970318-BAE5-F24B-9241-09C11FE90C6D}"/>
              </a:ext>
            </a:extLst>
          </p:cNvPr>
          <p:cNvSpPr/>
          <p:nvPr/>
        </p:nvSpPr>
        <p:spPr>
          <a:xfrm>
            <a:off x="107504" y="3429000"/>
            <a:ext cx="8856984" cy="2952328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04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66B7A-DAF0-384C-AA05-24DF34F5B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506"/>
            <a:ext cx="8229600" cy="563562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Problem Based Learning Session 1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C1D961-8C55-7343-9217-F6A530B53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777305"/>
            <a:ext cx="5467357" cy="24950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15C0B25-B3C2-0E41-8E43-AA84FE361B6D}"/>
              </a:ext>
            </a:extLst>
          </p:cNvPr>
          <p:cNvSpPr/>
          <p:nvPr/>
        </p:nvSpPr>
        <p:spPr>
          <a:xfrm>
            <a:off x="107504" y="692696"/>
            <a:ext cx="8856984" cy="2664296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630840-D7F4-954C-B755-4AAA5AC5DBE1}"/>
              </a:ext>
            </a:extLst>
          </p:cNvPr>
          <p:cNvSpPr/>
          <p:nvPr/>
        </p:nvSpPr>
        <p:spPr>
          <a:xfrm>
            <a:off x="107504" y="3429000"/>
            <a:ext cx="8856984" cy="2952328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2373"/>
      </p:ext>
    </p:extLst>
  </p:cSld>
  <p:clrMapOvr>
    <a:masterClrMapping/>
  </p:clrMapOvr>
</p:sld>
</file>

<file path=ppt/theme/theme1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"/>
        <a:ea typeface="ＭＳ Ｐゴシック"/>
        <a:cs typeface="ＭＳ Ｐゴシック"/>
      </a:majorFont>
      <a:minorFont>
        <a:latin typeface="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92667</TotalTime>
  <Words>350</Words>
  <Application>Microsoft Macintosh PowerPoint</Application>
  <PresentationFormat>On-screen Show (4:3)</PresentationFormat>
  <Paragraphs>58</Paragraphs>
  <Slides>15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Times</vt:lpstr>
      <vt:lpstr>3_Default Design</vt:lpstr>
      <vt:lpstr>Equation</vt:lpstr>
      <vt:lpstr>PBL 1 Contents</vt:lpstr>
      <vt:lpstr>Energy Science &amp; Generation</vt:lpstr>
      <vt:lpstr>Basic Heat &amp; Thermodynamics (Revision I)</vt:lpstr>
      <vt:lpstr>Basic Heat &amp; Thermodynamics (Revision II)</vt:lpstr>
      <vt:lpstr>Efficiency of a Steam Power Plant</vt:lpstr>
      <vt:lpstr>Carnot Cycle &amp; Efficiency</vt:lpstr>
      <vt:lpstr>Carnot Cycle &amp; Efficiency</vt:lpstr>
      <vt:lpstr>PowerPoint Presentation</vt:lpstr>
      <vt:lpstr>Problem Based Learning Session 1</vt:lpstr>
      <vt:lpstr>Composition of ‘natural gas’</vt:lpstr>
      <vt:lpstr>Problem Based Learning Session 1</vt:lpstr>
      <vt:lpstr>Problem Based Learning Session 1</vt:lpstr>
      <vt:lpstr>Problem Based Learning Session 1</vt:lpstr>
      <vt:lpstr>Problem Based Learning Session 1</vt:lpstr>
      <vt:lpstr>Problem Based Learning Session 1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Ideas</dc:title>
  <dc:creator>Saakyan</dc:creator>
  <cp:lastModifiedBy>Howard, Chris</cp:lastModifiedBy>
  <cp:revision>852</cp:revision>
  <cp:lastPrinted>2023-01-20T11:22:33Z</cp:lastPrinted>
  <dcterms:created xsi:type="dcterms:W3CDTF">2009-11-23T21:16:56Z</dcterms:created>
  <dcterms:modified xsi:type="dcterms:W3CDTF">2026-01-16T11:30:29Z</dcterms:modified>
</cp:coreProperties>
</file>